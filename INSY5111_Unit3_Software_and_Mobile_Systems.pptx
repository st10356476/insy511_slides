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2743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7295" cy="3840480"/>
          </a:xfrm>
          <a:prstGeom prst="rect">
            <a:avLst/>
          </a:prstGeom>
          <a:solidFill>
            <a:srgbClr val="004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6B00"/>
                </a:solidFill>
              </a:rPr>
              <a:t>Unit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Software and Mobile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2F2F2"/>
                </a:solidFill>
              </a:rPr>
              <a:t>Types of Software, Operating Systems, Application Software, and Mobile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INSY5111 – Information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The Independent Institute of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486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Unit 3 Overview &amp; 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37F"/>
                </a:solidFill>
              </a:rPr>
              <a:t>By the end of this unit, you should be able to:</a:t>
            </a:r>
          </a:p>
          <a:p>
            <a:pPr algn="l"/>
            <a:r>
              <a:rPr sz="8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Distinguish between systems software and application software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Describe the functions and types of operating systems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Explain the role of utility programs and middleware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Identify and compare popular personal application software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Describe workgroup and enterprise application software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Explain software licensing, ownership models, and open-source software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Discuss mobile computing and mobile application development</a:t>
            </a:r>
          </a:p>
          <a:p>
            <a:pPr algn="l"/>
            <a:r>
              <a:rPr sz="6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600" b="1">
                <a:solidFill>
                  <a:srgbClr val="0072C6"/>
                </a:solidFill>
              </a:rPr>
              <a:t>Key Topics Covered:</a:t>
            </a:r>
          </a:p>
          <a:p>
            <a:pPr algn="l"/>
            <a:r>
              <a:rPr sz="1400" b="0">
                <a:solidFill>
                  <a:srgbClr val="404040"/>
                </a:solidFill>
              </a:rPr>
              <a:t>Systems Software  •  Application Software  •  Software Licensing  •  Mobile Computing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0" y="0"/>
            <a:ext cx="36576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</a:rPr>
              <a:t>3.1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286000"/>
            <a:ext cx="7589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is Software?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8404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2F2F2"/>
                </a:solidFill>
              </a:rPr>
              <a:t>The bridge between hardware and users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486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Overview of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37F"/>
                </a:solidFill>
              </a:rPr>
              <a:t>Definition of Software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Software consists of programs, which are sequences of instructions for the computer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Without software, hardware is useless — it simply cannot perform any tasks</a:t>
            </a:r>
          </a:p>
          <a:p>
            <a:pPr algn="l"/>
            <a:r>
              <a:rPr sz="6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800" b="1">
                <a:solidFill>
                  <a:srgbClr val="00337F"/>
                </a:solidFill>
              </a:rPr>
              <a:t>Two Major Categories of Software:</a:t>
            </a:r>
          </a:p>
          <a:p>
            <a:pPr algn="l"/>
            <a:r>
              <a:rPr sz="1700" b="1">
                <a:solidFill>
                  <a:srgbClr val="0072C6"/>
                </a:solidFill>
              </a:rPr>
              <a:t>Systems Software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Controls basic computer operations (OS, utilities, middleware)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Acts as an intermediary between hardware and application programs</a:t>
            </a:r>
          </a:p>
          <a:p>
            <a:pPr algn="l"/>
            <a:r>
              <a:rPr sz="6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700" b="1">
                <a:solidFill>
                  <a:srgbClr val="0072C6"/>
                </a:solidFill>
              </a:rPr>
              <a:t>Application Software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Allows users to solve specific problems or perform specific tasks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E.g., word processors, spreadsheets, games, accounting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0" y="0"/>
            <a:ext cx="36576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</a:rPr>
              <a:t>3.2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286000"/>
            <a:ext cx="7589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Systems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8404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2F2F2"/>
                </a:solidFill>
              </a:rPr>
              <a:t>Operating Systems, Utilities, and Middleware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486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Operating Systems (OS) –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37F"/>
                </a:solidFill>
              </a:rPr>
              <a:t>What is an Operating System?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A set of programs that controls the computer hardware and acts as an interface with application programs</a:t>
            </a:r>
          </a:p>
          <a:p>
            <a:pPr algn="l"/>
            <a:r>
              <a:rPr sz="6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800" b="1">
                <a:solidFill>
                  <a:srgbClr val="00337F"/>
                </a:solidFill>
              </a:rPr>
              <a:t>Key Functions of an Operating System: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Processor Management – allocates CPU time to programs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Memory Management – tracks every memory location and allocates/deallocates memory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Storage Management – manages file storage, directories, and disk space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Device Management – controls hardware devices via device drivers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Security Management – controls access through user authentication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User Interface – provides command-line (CLI) or graphical (GUI) interface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486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0" y="1188720"/>
            <a:ext cx="27432" cy="521208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Types of Operating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2C6"/>
                </a:solidFill>
              </a:rPr>
              <a:t>Single-User / Personal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5486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04040"/>
                </a:solidFill>
              </a:rPr>
              <a:t>• Microsoft Windows 11/10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  ‒ Most widely used desktop OS worldwide</a:t>
            </a:r>
          </a:p>
          <a:p>
            <a:pPr algn="l"/>
            <a:r>
              <a:rPr sz="1600" b="1">
                <a:solidFill>
                  <a:srgbClr val="404040"/>
                </a:solidFill>
              </a:rPr>
              <a:t>• macOS (Apple)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  ‒ Used on Mac computers; UNIX-based</a:t>
            </a:r>
          </a:p>
          <a:p>
            <a:pPr algn="l"/>
            <a:r>
              <a:rPr sz="1600" b="1">
                <a:solidFill>
                  <a:srgbClr val="404040"/>
                </a:solidFill>
              </a:rPr>
              <a:t>• Linux Distributions (Ubuntu, Fedora)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  ‒ Open-source; highly customisable</a:t>
            </a:r>
          </a:p>
          <a:p>
            <a:pPr algn="l"/>
            <a:r>
              <a:rPr sz="1600" b="1">
                <a:solidFill>
                  <a:srgbClr val="404040"/>
                </a:solidFill>
              </a:rPr>
              <a:t>• Chrome OS (Google)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  ‒ Cloud-centric; used on Chromebooks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2801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2C6"/>
                </a:solidFill>
              </a:rPr>
              <a:t>Server / Network / Mobile 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737360"/>
            <a:ext cx="5760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04040"/>
                </a:solidFill>
              </a:rPr>
              <a:t>• Windows Server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  ‒ Powers enterprise networks and servers</a:t>
            </a:r>
          </a:p>
          <a:p>
            <a:pPr algn="l"/>
            <a:r>
              <a:rPr sz="1600" b="1">
                <a:solidFill>
                  <a:srgbClr val="404040"/>
                </a:solidFill>
              </a:rPr>
              <a:t>• Linux Server (RHEL, Ubuntu Server)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  ‒ Dominant in web servers and cloud</a:t>
            </a:r>
          </a:p>
          <a:p>
            <a:pPr algn="l"/>
            <a:r>
              <a:rPr sz="1600" b="1">
                <a:solidFill>
                  <a:srgbClr val="404040"/>
                </a:solidFill>
              </a:rPr>
              <a:t>• Android (Google)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  ‒ Most popular smartphone OS globally</a:t>
            </a:r>
          </a:p>
          <a:p>
            <a:pPr algn="l"/>
            <a:r>
              <a:rPr sz="1600" b="1">
                <a:solidFill>
                  <a:srgbClr val="404040"/>
                </a:solidFill>
              </a:rPr>
              <a:t>• iOS / iPadOS (Apple)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  ‒ Used on iPhones and iPads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486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Operating System – Key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72C6"/>
                </a:solidFill>
              </a:rPr>
              <a:t>Multitasking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Running multiple applications simultaneously on a single CPU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Time-sharing divides CPU time among processes rapidly</a:t>
            </a:r>
          </a:p>
          <a:p>
            <a:pPr algn="l"/>
            <a:r>
              <a:rPr sz="6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700" b="1">
                <a:solidFill>
                  <a:srgbClr val="0072C6"/>
                </a:solidFill>
              </a:rPr>
              <a:t>Virtual Memory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Uses hard disk space as an extension of RAM to increase available memory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Allows running programs larger than physical RAM</a:t>
            </a:r>
          </a:p>
          <a:p>
            <a:pPr algn="l"/>
            <a:r>
              <a:rPr sz="6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700" b="1">
                <a:solidFill>
                  <a:srgbClr val="0072C6"/>
                </a:solidFill>
              </a:rPr>
              <a:t>User Interface Types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Command-Line Interface (CLI) – text-based commands (e.g., Linux Terminal, cmd)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Graphical User Interface (GUI) – icons, windows, mouse-driven (e.g., Windows, macOS)</a:t>
            </a:r>
          </a:p>
          <a:p>
            <a:pPr algn="l"/>
            <a:r>
              <a:rPr sz="6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700" b="1">
                <a:solidFill>
                  <a:srgbClr val="0072C6"/>
                </a:solidFill>
              </a:rPr>
              <a:t>Kernel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The core component of an OS that directly interacts with hardware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486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Utility Programs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37F"/>
                </a:solidFill>
              </a:rPr>
              <a:t>Definition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Programs that perform common support tasks such as disk management, security, and system maintenance</a:t>
            </a:r>
          </a:p>
          <a:p>
            <a:pPr algn="l"/>
            <a:r>
              <a:rPr sz="6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800" b="1">
                <a:solidFill>
                  <a:srgbClr val="00337F"/>
                </a:solidFill>
              </a:rPr>
              <a:t>Common Types of Utility Programs: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Backup Software – copies and archives data files (e.g., Windows Backup, Time Machine)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Antivirus/Anti-malware Software – detects and removes malicious software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File Management Tools – manage files and directories (e.g., Windows Explorer)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Disk Defragmentation – reorganises fragmented data on HDDs for faster access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Compression Utilities – reduce file sizes (e.g., WinZip, 7-Zip)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Disk Cleanup Tools – remove temporary/unnecessary files to free disk space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Screen Savers – originally prevented burn-in; now mostly cosmetic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486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Middleware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37F"/>
                </a:solidFill>
              </a:rPr>
              <a:t>What is Middleware?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Software that sits between an OS and application programs, enabling communication between different software systems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Often called "plumbing" – it connects software components or enterprise applications</a:t>
            </a:r>
          </a:p>
          <a:p>
            <a:pPr algn="l"/>
            <a:r>
              <a:rPr sz="6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800" b="1">
                <a:solidFill>
                  <a:srgbClr val="00337F"/>
                </a:solidFill>
              </a:rPr>
              <a:t>Roles of Middleware: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Allows applications running on different platforms to communicate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Manages data exchange between heterogeneous systems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Examples: IBM MQ, Apache Kafka, Microsoft BizTalk, REST APIs</a:t>
            </a:r>
          </a:p>
          <a:p>
            <a:pPr algn="l"/>
            <a:r>
              <a:rPr sz="6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800" b="1">
                <a:solidFill>
                  <a:srgbClr val="00337F"/>
                </a:solidFill>
              </a:rPr>
              <a:t>Types of Middleware: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Message-Oriented Middleware (MOM) – asynchronous messaging between applications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Object Request Brokers (ORBs) – enable object-to-object communication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Database Middleware – connects applications to databases (e.g., ODBC, JDBC)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0" y="0"/>
            <a:ext cx="36576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</a:rPr>
              <a:t>3.3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286000"/>
            <a:ext cx="7589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Application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8404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2F2F2"/>
                </a:solidFill>
              </a:rPr>
              <a:t>Personal, Workgroup, and Enterprise Applications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486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Application Software –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37F"/>
                </a:solidFill>
              </a:rPr>
              <a:t>Definition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Programs that perform specific tasks for users, such as writing documents, managing data, or creating graphics</a:t>
            </a:r>
          </a:p>
          <a:p>
            <a:pPr algn="l"/>
            <a:r>
              <a:rPr sz="6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800" b="1">
                <a:solidFill>
                  <a:srgbClr val="00337F"/>
                </a:solidFill>
              </a:rPr>
              <a:t>Three Levels of Application Software:</a:t>
            </a:r>
          </a:p>
          <a:p>
            <a:pPr algn="l"/>
            <a:r>
              <a:rPr sz="1700" b="1">
                <a:solidFill>
                  <a:srgbClr val="0072C6"/>
                </a:solidFill>
              </a:rPr>
              <a:t>Personal Application Software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Used by individuals – word processing, spreadsheets, presentations, email</a:t>
            </a:r>
          </a:p>
          <a:p>
            <a:pPr algn="l"/>
            <a:r>
              <a:rPr sz="4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700" b="1">
                <a:solidFill>
                  <a:srgbClr val="0072C6"/>
                </a:solidFill>
              </a:rPr>
              <a:t>Workgroup Application Software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Supports collaboration within teams – groupware, shared calendars, video conferencing</a:t>
            </a:r>
          </a:p>
          <a:p>
            <a:pPr algn="l"/>
            <a:r>
              <a:rPr sz="4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700" b="1">
                <a:solidFill>
                  <a:srgbClr val="0072C6"/>
                </a:solidFill>
              </a:rPr>
              <a:t>Enterprise Application Software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Supports entire organisations – ERP, CRM, SCM systems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486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0" y="1188720"/>
            <a:ext cx="27432" cy="521208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Personal Application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2C6"/>
                </a:solidFill>
              </a:rPr>
              <a:t>Productivity Suite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5486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04040"/>
                </a:solidFill>
              </a:rPr>
              <a:t>• Word Processing (Microsoft Word, Google Docs)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  ‒ Create, format, edit, and print text documents</a:t>
            </a:r>
          </a:p>
          <a:p>
            <a:pPr algn="l"/>
            <a:r>
              <a:rPr sz="1600" b="1">
                <a:solidFill>
                  <a:srgbClr val="404040"/>
                </a:solidFill>
              </a:rPr>
              <a:t>• Spreadsheet Software (MS Excel, Google Sheets)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  ‒ Organise data in rows/columns; perform calculations and charts</a:t>
            </a:r>
          </a:p>
          <a:p>
            <a:pPr algn="l"/>
            <a:r>
              <a:rPr sz="1600" b="1">
                <a:solidFill>
                  <a:srgbClr val="404040"/>
                </a:solidFill>
              </a:rPr>
              <a:t>• Presentation Software (MS PowerPoint, Canva)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  ‒ Create visual slideshows for presentations</a:t>
            </a:r>
          </a:p>
          <a:p>
            <a:pPr algn="l"/>
            <a:r>
              <a:rPr sz="1600" b="1">
                <a:solidFill>
                  <a:srgbClr val="404040"/>
                </a:solidFill>
              </a:rPr>
              <a:t>• Database Software (MS Access, FileMaker)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  ‒ Store and retrieve structured data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2801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2C6"/>
                </a:solidFill>
              </a:rPr>
              <a:t>Other Common Personal 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737360"/>
            <a:ext cx="5760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04040"/>
                </a:solidFill>
              </a:rPr>
              <a:t>• Email Clients (Outlook, Gmail, Thunderbird)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  ‒ Manage and send electronic messages</a:t>
            </a:r>
          </a:p>
          <a:p>
            <a:pPr algn="l"/>
            <a:r>
              <a:rPr sz="1600" b="1">
                <a:solidFill>
                  <a:srgbClr val="404040"/>
                </a:solidFill>
              </a:rPr>
              <a:t>• Web Browsers (Chrome, Firefox, Edge)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  ‒ Access and navigate the World Wide Web</a:t>
            </a:r>
          </a:p>
          <a:p>
            <a:pPr algn="l"/>
            <a:r>
              <a:rPr sz="1600" b="1">
                <a:solidFill>
                  <a:srgbClr val="404040"/>
                </a:solidFill>
              </a:rPr>
              <a:t>• Personal Finance (Quicken, Sage Pastel)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  ‒ Track personal or business finances</a:t>
            </a:r>
          </a:p>
          <a:p>
            <a:pPr algn="l"/>
            <a:r>
              <a:rPr sz="1600" b="1">
                <a:solidFill>
                  <a:srgbClr val="404040"/>
                </a:solidFill>
              </a:rPr>
              <a:t>• Graphics / Media (Photoshop, VLC, Spotify)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  ‒ Create, edit, or play media files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486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Productivity Suites –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37F"/>
                </a:solidFill>
              </a:rPr>
              <a:t>What is a Productivity Suite?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A collection of application software programs sold as a bundle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Allows data sharing between applications (e.g., embed Excel chart in Word)</a:t>
            </a:r>
          </a:p>
          <a:p>
            <a:pPr algn="l"/>
            <a:r>
              <a:rPr sz="6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700" b="1">
                <a:solidFill>
                  <a:srgbClr val="0072C6"/>
                </a:solidFill>
              </a:rPr>
              <a:t>Microsoft 365 (formerly Office)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Word, Excel, PowerPoint, Outlook, Teams, OneDrive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Industry standard; subscription-based (cloud) or perpetual licence</a:t>
            </a:r>
          </a:p>
          <a:p>
            <a:pPr algn="l"/>
            <a:r>
              <a:rPr sz="4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700" b="1">
                <a:solidFill>
                  <a:srgbClr val="0072C6"/>
                </a:solidFill>
              </a:rPr>
              <a:t>Google Workspace (formerly G Suite)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Docs, Sheets, Slides, Gmail, Meet, Drive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Cloud-native; real-time collaboration; free for personal use</a:t>
            </a:r>
          </a:p>
          <a:p>
            <a:pPr algn="l"/>
            <a:r>
              <a:rPr sz="4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700" b="1">
                <a:solidFill>
                  <a:srgbClr val="0072C6"/>
                </a:solidFill>
              </a:rPr>
              <a:t>LibreOffice / OpenOffice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Free, open-source alternatives to Microsoft Office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Writer, Calc, Impress, Base – compatible with MS Office file formats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486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Workgroup Application Software (Groupware)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37F"/>
                </a:solidFill>
              </a:rPr>
              <a:t>Definition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Software that supports team collaboration and group work regardless of location</a:t>
            </a:r>
          </a:p>
          <a:p>
            <a:pPr algn="l"/>
            <a:r>
              <a:rPr sz="6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800" b="1">
                <a:solidFill>
                  <a:srgbClr val="00337F"/>
                </a:solidFill>
              </a:rPr>
              <a:t>Common Groupware Features and Tools: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Shared Calendaring &amp; Scheduling – e.g., Microsoft Outlook Calendar, Google Calendar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Document Sharing &amp; Co-authoring – e.g., SharePoint, Google Drive, OneDrive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Instant Messaging &amp; Video Conferencing – e.g., Microsoft Teams, Zoom, Slack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Email Systems – e.g., Microsoft Exchange Server, Gmail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Project Management Tools – e.g., Asana, Trello, Microsoft Project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Workflow Automation – automate repetitive business processes</a:t>
            </a:r>
          </a:p>
          <a:p>
            <a:pPr algn="l"/>
            <a:r>
              <a:rPr sz="6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404040"/>
                </a:solidFill>
              </a:rPr>
              <a:t>Benefits: Improved teamwork, faster communication, real-time collaboration, and remote work support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486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Enterprise Application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72C6"/>
                </a:solidFill>
              </a:rPr>
              <a:t>Enterprise Resource Planning (ERP)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Integrates all core business functions into one system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Finance, HR, supply chain, manufacturing, and more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Examples: SAP ERP, Oracle ERP Cloud, Microsoft Dynamics 365</a:t>
            </a:r>
          </a:p>
          <a:p>
            <a:pPr algn="l"/>
            <a:r>
              <a:rPr sz="6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700" b="1">
                <a:solidFill>
                  <a:srgbClr val="0072C6"/>
                </a:solidFill>
              </a:rPr>
              <a:t>Customer Relationship Management (CRM)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Manages a company's interactions with current and potential customers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Examples: Salesforce, HubSpot CRM, SAP CRM</a:t>
            </a:r>
          </a:p>
          <a:p>
            <a:pPr algn="l"/>
            <a:r>
              <a:rPr sz="6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700" b="1">
                <a:solidFill>
                  <a:srgbClr val="0072C6"/>
                </a:solidFill>
              </a:rPr>
              <a:t>Supply Chain Management (SCM)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Manages the flow of goods and services from supplier to customer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Examples: Oracle SCM, SAP SCM</a:t>
            </a:r>
          </a:p>
          <a:p>
            <a:pPr algn="l"/>
            <a:r>
              <a:rPr sz="6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700" b="1">
                <a:solidFill>
                  <a:srgbClr val="0072C6"/>
                </a:solidFill>
              </a:rPr>
              <a:t>Transaction Processing Systems (TPS)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Handles routine business transactions (e.g., bank withdrawals, point-of-sale)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0" y="0"/>
            <a:ext cx="36576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</a:rPr>
              <a:t>3.4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286000"/>
            <a:ext cx="7589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Software Ownership and Licensing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8404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2F2F2"/>
                </a:solidFill>
              </a:rPr>
              <a:t>Proprietary, Open-Source, Freeware, and Shareware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486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Software Ownership and Licensing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72C6"/>
                </a:solidFill>
              </a:rPr>
              <a:t>Proprietary Software (Commercial Software)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Owned by the developer; users must purchase a licence to use it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Source code is NOT available to users (closed source)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Examples: Microsoft Office, Adobe Photoshop, Pastel Accounting</a:t>
            </a:r>
          </a:p>
          <a:p>
            <a:pPr algn="l"/>
            <a:r>
              <a:rPr sz="5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700" b="1">
                <a:solidFill>
                  <a:srgbClr val="0072C6"/>
                </a:solidFill>
              </a:rPr>
              <a:t>Open-Source Software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Source code is freely available; can be modified and redistributed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Examples: Linux, LibreOffice, Firefox, Android (AOSP), Python</a:t>
            </a:r>
          </a:p>
          <a:p>
            <a:pPr algn="l"/>
            <a:r>
              <a:rPr sz="5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700" b="1">
                <a:solidFill>
                  <a:srgbClr val="0072C6"/>
                </a:solidFill>
              </a:rPr>
              <a:t>Freeware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Free to use but source code is NOT shared; copyrighted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Examples: Adobe Acrobat Reader, Skype (basic), VLC Media Player</a:t>
            </a:r>
          </a:p>
          <a:p>
            <a:pPr algn="l"/>
            <a:r>
              <a:rPr sz="5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700" b="1">
                <a:solidFill>
                  <a:srgbClr val="0072C6"/>
                </a:solidFill>
              </a:rPr>
              <a:t>Shareware / Freemium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Trial version available free; full version requires payment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Examples: WinRAR, Spotify (free tier vs premium)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486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End-User Licence Agreement (EULA)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37F"/>
                </a:solidFill>
              </a:rPr>
              <a:t>What is a EULA?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A legal contract between the software developer/publisher and the user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Defines the rights and restrictions for using the software</a:t>
            </a:r>
          </a:p>
          <a:p>
            <a:pPr algn="l"/>
            <a:r>
              <a:rPr sz="6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800" b="1">
                <a:solidFill>
                  <a:srgbClr val="00337F"/>
                </a:solidFill>
              </a:rPr>
              <a:t>Common EULA Restrictions: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Limits the number of computers the software can be installed on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Prohibits reverse engineering or decompiling the software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Restricts redistribution or reselling of the software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May limit use to non-commercial purposes only</a:t>
            </a:r>
          </a:p>
          <a:p>
            <a:pPr algn="l"/>
            <a:r>
              <a:rPr sz="6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800" b="1">
                <a:solidFill>
                  <a:srgbClr val="00337F"/>
                </a:solidFill>
              </a:rPr>
              <a:t>Licence Types: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Single-user licence – one user on one computer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Multi-user / site licence – multiple users within an organisation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Concurrent licence – limited number of simultaneous users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Subscription licence – pay-per-period model (e.g., Microsoft 365)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0" y="0"/>
            <a:ext cx="36576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</a:rPr>
              <a:t>3.5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286000"/>
            <a:ext cx="7589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Mobile Computing and Mobile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8404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2F2F2"/>
                </a:solidFill>
              </a:rPr>
              <a:t>Smartphones, Tablets, and Mobile App Development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486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Mobile Computing –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37F"/>
                </a:solidFill>
              </a:rPr>
              <a:t>What is Mobile Computing?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The use of portable computing devices (smartphones, tablets, laptops) connected to wireless networks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Enables access to information and services from any location at any time</a:t>
            </a:r>
          </a:p>
          <a:p>
            <a:pPr algn="l"/>
            <a:r>
              <a:rPr sz="6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800" b="1">
                <a:solidFill>
                  <a:srgbClr val="00337F"/>
                </a:solidFill>
              </a:rPr>
              <a:t>Key Mobile Computing Technologies: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Smartphones – multifunctional handheld devices (calls, internet, apps)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Tablets – larger touchscreen devices (iPad, Samsung Galaxy Tab)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Wearables – smartwatches, fitness trackers (Apple Watch, Fitbit)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Mobile Hotspots – personal LTE/5G wireless access points</a:t>
            </a:r>
          </a:p>
          <a:p>
            <a:pPr algn="l"/>
            <a:r>
              <a:rPr sz="6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800" b="1">
                <a:solidFill>
                  <a:srgbClr val="00337F"/>
                </a:solidFill>
              </a:rPr>
              <a:t>Mobile Network Generations: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3G → 4G LTE → 5G (fastest, lowest latency, supports IoT)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486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0" y="1188720"/>
            <a:ext cx="27432" cy="521208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Mobile Operating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2C6"/>
                </a:solidFill>
              </a:rPr>
              <a:t>Android (Google)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54864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</a:rPr>
              <a:t>• Based on Linux kernel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• Open-source and highly customisable by manufacturers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• Used by Samsung, Huawei, Xiaomi, and many others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• Apps distributed via Google Play Store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• Largest market share globally (~72% of smartphones)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• Supports multiple hardware vendors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2801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2C6"/>
                </a:solidFill>
              </a:rPr>
              <a:t>iOS / iPadOS (Apple)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737360"/>
            <a:ext cx="5760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</a:rPr>
              <a:t>• Proprietary OS developed by Apple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• Closed ecosystem – runs only on Apple hardware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• Known for security, privacy, and smooth performance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• Apps distributed via Apple App Store only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• Significant market share especially in premium segment</a:t>
            </a:r>
          </a:p>
          <a:p>
            <a:pPr algn="l"/>
            <a:r>
              <a:rPr sz="1600" b="0">
                <a:solidFill>
                  <a:srgbClr val="404040"/>
                </a:solidFill>
              </a:rPr>
              <a:t>• iPadOS – specialised version for iPad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486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Mobile Applications (Apps)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37F"/>
                </a:solidFill>
              </a:rPr>
              <a:t>Categories of Mobile Apps:</a:t>
            </a:r>
          </a:p>
          <a:p>
            <a:pPr algn="l"/>
            <a:r>
              <a:rPr sz="1700" b="1">
                <a:solidFill>
                  <a:srgbClr val="0072C6"/>
                </a:solidFill>
              </a:rPr>
              <a:t>Native Apps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Built specifically for one OS platform (Android or iOS)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Best performance and access to device features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Examples: Instagram (iOS), Google Maps (Android)</a:t>
            </a:r>
          </a:p>
          <a:p>
            <a:pPr algn="l"/>
            <a:r>
              <a:rPr sz="4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700" b="1">
                <a:solidFill>
                  <a:srgbClr val="0072C6"/>
                </a:solidFill>
              </a:rPr>
              <a:t>Web Apps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Accessed through a mobile browser; runs on any platform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No download needed; easier to update</a:t>
            </a:r>
          </a:p>
          <a:p>
            <a:pPr algn="l"/>
            <a:r>
              <a:rPr sz="4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700" b="1">
                <a:solidFill>
                  <a:srgbClr val="0072C6"/>
                </a:solidFill>
              </a:rPr>
              <a:t>Hybrid Apps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Combines native and web app technologies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Built once, deployed on multiple platforms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Tools: React Native, Flutter, Ionic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486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App Stores and Mobile App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37F"/>
                </a:solidFill>
              </a:rPr>
              <a:t>What is an App Store?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A digital marketplace for downloading, purchasing, and updating mobile applications</a:t>
            </a:r>
          </a:p>
          <a:p>
            <a:pPr algn="l"/>
            <a:r>
              <a:rPr sz="6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800" b="1">
                <a:solidFill>
                  <a:srgbClr val="00337F"/>
                </a:solidFill>
              </a:rPr>
              <a:t>Major App Stores: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Google Play Store – primary store for Android apps; 3+ million apps available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Apple App Store – only source for iOS apps; strict review process; 2+ million apps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Huawei AppGallery – alternative for Huawei devices</a:t>
            </a:r>
          </a:p>
          <a:p>
            <a:pPr algn="l"/>
            <a:r>
              <a:rPr sz="6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800" b="1">
                <a:solidFill>
                  <a:srgbClr val="00337F"/>
                </a:solidFill>
              </a:rPr>
              <a:t>Business Models for Mobile Apps: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Free – ad-supported (e.g., games, utility apps)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Paid – one-time purchase to download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Freemium – free download with in-app purchases for premium features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Subscription – regular payment for ongoing access (e.g., Netflix, Spotify)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0" y="0"/>
            <a:ext cx="36576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</a:rPr>
              <a:t>3.6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286000"/>
            <a:ext cx="7589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Emerging Software 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8404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2F2F2"/>
                </a:solidFill>
              </a:rPr>
              <a:t>SaaS, Cloud Software, AI Tools, and Low-Code Development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486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Software as a Service (SaaS)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37F"/>
                </a:solidFill>
              </a:rPr>
              <a:t>What is SaaS?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A software distribution model where applications are hosted in the cloud and accessed via the internet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Users pay a subscription fee instead of buying and installing software locally</a:t>
            </a:r>
          </a:p>
          <a:p>
            <a:pPr algn="l"/>
            <a:r>
              <a:rPr sz="6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800" b="1">
                <a:solidFill>
                  <a:srgbClr val="00337F"/>
                </a:solidFill>
              </a:rPr>
              <a:t>Advantages of SaaS: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No installation required – access from any device with internet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Automatic updates – always using the latest version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Scalable – pay only for what you use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Lower upfront cost compared to traditional software licences</a:t>
            </a:r>
          </a:p>
          <a:p>
            <a:pPr algn="l"/>
            <a:r>
              <a:rPr sz="6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800" b="1">
                <a:solidFill>
                  <a:srgbClr val="00337F"/>
                </a:solidFill>
              </a:rPr>
              <a:t>Popular SaaS Examples: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Microsoft 365, Google Workspace, Salesforce, Dropbox, Zoom, Slack, Netflix</a:t>
            </a:r>
          </a:p>
          <a:p>
            <a:pPr algn="l"/>
            <a:r>
              <a:rPr sz="4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400" b="0">
                <a:solidFill>
                  <a:srgbClr val="404040"/>
                </a:solidFill>
              </a:rPr>
              <a:t>Disadvantages: Requires internet access; data stored on vendor servers (privacy concerns)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486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Emerging Software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72C6"/>
                </a:solidFill>
              </a:rPr>
              <a:t>Artificial Intelligence (AI) in Software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AI assistants integrated into apps (e.g., Microsoft Copilot in Office, Google Gemini)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Automated code generation, natural language processing, intelligent recommendations</a:t>
            </a:r>
          </a:p>
          <a:p>
            <a:pPr algn="l"/>
            <a:r>
              <a:rPr sz="5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700" b="1">
                <a:solidFill>
                  <a:srgbClr val="0072C6"/>
                </a:solidFill>
              </a:rPr>
              <a:t>Low-Code / No-Code Development Platforms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Enable non-programmers to create applications using drag-and-drop interfaces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Examples: Microsoft Power Apps, Google AppSheet, Bubble</a:t>
            </a:r>
          </a:p>
          <a:p>
            <a:pPr algn="l"/>
            <a:r>
              <a:rPr sz="5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700" b="1">
                <a:solidFill>
                  <a:srgbClr val="0072C6"/>
                </a:solidFill>
              </a:rPr>
              <a:t>Progressive Web Applications (PWAs)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Web apps that behave like native mobile apps (offline capability, push notifications)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Twitter Lite, Google Maps Go, Pinterest PWA</a:t>
            </a:r>
          </a:p>
          <a:p>
            <a:pPr algn="l"/>
            <a:r>
              <a:rPr sz="5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700" b="1">
                <a:solidFill>
                  <a:srgbClr val="0072C6"/>
                </a:solidFill>
              </a:rPr>
              <a:t>Internet of Things (IoT) Software</a:t>
            </a:r>
          </a:p>
          <a:p>
            <a:pPr lvl="1" algn="l"/>
            <a:r>
              <a:rPr sz="1600" b="0">
                <a:solidFill>
                  <a:srgbClr val="404040"/>
                </a:solidFill>
              </a:rPr>
              <a:t>  ‒ Software that connects and controls smart devices (smart homes, factories)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486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Key Terms and Definitions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234440"/>
            <a:ext cx="11887200" cy="489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80160"/>
            <a:ext cx="32004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2C6"/>
                </a:solidFill>
              </a:rPr>
              <a:t>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280160"/>
            <a:ext cx="82296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A set of programs (instructions) that directs the operations of a computer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769364"/>
            <a:ext cx="11887200" cy="4892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815084"/>
            <a:ext cx="32004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2C6"/>
                </a:solidFill>
              </a:rPr>
              <a:t>Systems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15084"/>
            <a:ext cx="82296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Programs that control and manage the computer hardware, e.g., operating systems and utilities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2304288"/>
            <a:ext cx="11887200" cy="489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350008"/>
            <a:ext cx="32004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2C6"/>
                </a:solidFill>
              </a:rPr>
              <a:t>Application 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350008"/>
            <a:ext cx="82296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Programs that perform specific user tasks such as word processing and data analysis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2839212"/>
            <a:ext cx="11887200" cy="4892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884932"/>
            <a:ext cx="32004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2C6"/>
                </a:solidFill>
              </a:rPr>
              <a:t>Operating System (OS)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884932"/>
            <a:ext cx="82296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Software that manages hardware resources and provides services for application programs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3374136"/>
            <a:ext cx="11887200" cy="489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419856"/>
            <a:ext cx="32004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2C6"/>
                </a:solidFill>
              </a:rPr>
              <a:t>Utility Program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419856"/>
            <a:ext cx="82296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A program that performs common support tasks such as virus scanning, disk cleanup, and backup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3909060"/>
            <a:ext cx="11887200" cy="4892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954780"/>
            <a:ext cx="32004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2C6"/>
                </a:solidFill>
              </a:rPr>
              <a:t>Middleware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954780"/>
            <a:ext cx="82296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Software that connects different software applications or systems to enable communication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4443984"/>
            <a:ext cx="11887200" cy="489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489704"/>
            <a:ext cx="32004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2C6"/>
                </a:solidFill>
              </a:rPr>
              <a:t>Open-Source Software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489704"/>
            <a:ext cx="82296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Software whose source code is freely available for viewing, modification, and redistribution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4978908"/>
            <a:ext cx="11887200" cy="4892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5024628"/>
            <a:ext cx="32004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2C6"/>
                </a:solidFill>
              </a:rPr>
              <a:t>SaaS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5024628"/>
            <a:ext cx="82296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Software as a Service – cloud-based software delivery model accessed via subscription over the internet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5513832"/>
            <a:ext cx="11887200" cy="489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5559552"/>
            <a:ext cx="32004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2C6"/>
                </a:solidFill>
              </a:rPr>
              <a:t>EULA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5559552"/>
            <a:ext cx="82296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End-User Licence Agreement – a legal contract defining the terms of use for software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6048756"/>
            <a:ext cx="11887200" cy="4892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6094476"/>
            <a:ext cx="32004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2C6"/>
                </a:solidFill>
              </a:rPr>
              <a:t>Native App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6094476"/>
            <a:ext cx="82296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A mobile application built specifically for one platform (Android or iOS) for optimal performance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486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Unit 3 Summary – 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337F"/>
                </a:solidFill>
              </a:rPr>
              <a:t>• Software is the set of instructions that enables hardware to perform useful tasks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Systems Software (OS, utilities, middleware) manages hardware and supports applications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The Operating System manages processors, memory, storage, devices, and users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Application Software solves specific user problems: personal, workgroup, and enterprise levels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Productivity suites bundle multiple applications together for efficiency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Software licensing defines usage rights: proprietary, open-source, freeware, shareware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Mobile computing uses smartphones, tablets, and wireless networks for anywhere access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Mobile apps can be native, web, or hybrid; distributed through app stores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SaaS delivers software via the cloud on a subscription basis – no local installation needed</a:t>
            </a:r>
          </a:p>
          <a:p>
            <a:pPr algn="l"/>
            <a:r>
              <a:rPr sz="1800" b="0">
                <a:solidFill>
                  <a:srgbClr val="00337F"/>
                </a:solidFill>
              </a:rPr>
              <a:t>• Emerging trends: AI integration, low-code platforms, PWAs, and IoT software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486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Unit 3 Review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337F"/>
                </a:solidFill>
              </a:rPr>
              <a:t>• 1.  Distinguish between systems software and application software. Provide two examples of each.</a:t>
            </a:r>
          </a:p>
          <a:p>
            <a:pPr algn="l"/>
            <a:r>
              <a:rPr sz="5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00337F"/>
                </a:solidFill>
              </a:rPr>
              <a:t>• 2.  List and explain four key functions performed by an operating system.</a:t>
            </a:r>
          </a:p>
          <a:p>
            <a:pPr algn="l"/>
            <a:r>
              <a:rPr sz="5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00337F"/>
                </a:solidFill>
              </a:rPr>
              <a:t>• 3.  Compare and contrast proprietary software, open-source software, and freeware.</a:t>
            </a:r>
          </a:p>
          <a:p>
            <a:pPr algn="l"/>
            <a:r>
              <a:rPr sz="5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00337F"/>
                </a:solidFill>
              </a:rPr>
              <a:t>• 4.  What is a EULA? Why is it important for users to understand it before installing software?</a:t>
            </a:r>
          </a:p>
          <a:p>
            <a:pPr algn="l"/>
            <a:r>
              <a:rPr sz="5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00337F"/>
                </a:solidFill>
              </a:rPr>
              <a:t>• 5.  Explain the difference between native, web, and hybrid mobile applications.</a:t>
            </a:r>
          </a:p>
          <a:p>
            <a:pPr algn="l"/>
            <a:r>
              <a:rPr sz="5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00337F"/>
                </a:solidFill>
              </a:rPr>
              <a:t>• 6.  What is SaaS? Identify two advantages and one disadvantage of the SaaS model.</a:t>
            </a:r>
          </a:p>
          <a:p>
            <a:pPr algn="l"/>
            <a:r>
              <a:rPr sz="500" b="0">
                <a:solidFill>
                  <a:srgbClr val="00337F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00337F"/>
                </a:solidFill>
              </a:rPr>
              <a:t>• 7.  Describe two emerging trends in software development and explain their significance.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2743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References &amp; Recommended 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Stair, R.M. &amp; Reynolds, G.W. (2020). Principles of Information Systems (14th ed.). Cengage Learning.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Laudon, K.C. &amp; Laudon, J.P. (2022). Management Information Systems: Managing the Digital Firm (17th ed.). Pearson.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O'Brien, J.A. &amp; Marakas, G.M. (2011). Management Information Systems (10th ed.). McGraw-Hill.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The IIE. (2025). INSY5111 Information Systems Module Manual. The Independent Institute of Education.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Microsoft. (2024). Windows Operating System documentation. Microsoft Corporation.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217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99999"/>
                </a:solidFill>
              </a:rPr>
              <a:t>INSY5111 – Information Systems  |  Unit 3: Software and Mobile Systems  |  The IIE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